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Begrüßung. Rahmen: reine Technikschulung — keine Rechtsbelehrung.</a:t>
            </a:r>
          </a:p>
          <a:p>
            <a:r>
              <a:t>Ziel: Nachvollziehbarkeit technischer Zusammenhänge (Motorsteuerung, Firmware, BLE, Persistenz) und realistische Einordnung der ScooterCheck-Analyse.</a:t>
            </a:r>
          </a:p>
          <a:p>
            <a:r>
              <a:t>Betonen: Keine Anleitung zum Tuning. Fokus Erkennung, Spurenlage, Grenzen.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 die fünf Lernziele vorlesen. Ankündigen: Zuerst Physik/Elektronik, dann Tuningarten, dann BLE, dann Tool.</a:t>
            </a:r>
          </a:p>
          <a:p>
            <a:r>
              <a:t>Frage an die Runde: Wer hat schon mit Scooter-Apps oder Diagnosegeräten gearbeitet?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Einstiegsfrage stehen lassen (5–10 Sekunden). Dann: Der Motor kann oft mehr, als die Straße erlaubt — die Begrenzung ist elektronisch.</a:t>
            </a:r>
          </a:p>
          <a:p>
            <a:r>
              <a:t>Überleitung: Um Manipulation zu verstehen, muss man den Regelkreis kennen.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Kurzer Kapiteltrenner. Betonen: Architekturen unterscheiden sich (Ninebot/Segway, Xiaomi, KuKirin u. a.).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Diagramm erklären von links nach rechts: App spricht nur mit BLE; BLE spricht mit MCU; MCU regelt Motor und tauscht mit BMS.</a:t>
            </a:r>
          </a:p>
          <a:p>
            <a:r>
              <a:t>Varianten: Manche Billig-Scooter haben BLE und MCU auf einer Platine; Premium-Modelle trennen VCU/Display.</a:t>
            </a:r>
          </a:p>
          <a:p>
            <a:r>
              <a:t>Frage: „Wo sitzt die Geschwindigkeitsbegrenzung?“ → typisch MCU-Firmware/Parameter, manchmal zusätzlich App-seitig.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Wichtig: Firmware existiert oft mehrfach (MCU, BLE, BMS). Eine „Firmware“ in der App kann eine dieser Ebenen meinen.</a:t>
            </a:r>
          </a:p>
          <a:p>
            <a:r>
              <a:t>BMS-Manipulation ist seltener Thema bei Geschwindigkeit, aber relevant bei Kapazitäts-/Sicherheitsanzeigen.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Überleitung: Begrenzung ≠ Motorleistung.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Geschwindigkeit ≈ Drehzahl × Radumfang. Tuning ändert meist das Soll-Limit oder die Firmware-Logik, nicht den Radumfang.</a:t>
            </a:r>
          </a:p>
          <a:p>
            <a:r>
              <a:t>Regionale Konfigurationen (EU/US/…) können unterschiedliche Limits speichern — das ist herstellerseitig vorgesehen, aber missbrauchbar.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Kernbotschaft: Ein starker Motor ohne Limit-Änderung fährt nicht automatisch unzulässig schnell — und ein Limit-Wert in der Diagnose ist nicht die gefahrene Geschwindigkeit.</a:t>
            </a:r>
          </a:p>
          <a:p>
            <a:r>
              <a:t>Peak-Werte in der Historie brauchen Kontext (Hang, Messung, Referenzprofil).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Ankündigen: fünf methodische Kästen. Keine Schritt-für-Schritt-Anleitungen.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Parameter-Tuning ist die „leiseste“ Form: gleiche Firmware-Version, andere Werte.</a:t>
            </a:r>
          </a:p>
          <a:p>
            <a:r>
              <a:t>ScooterCheck: Vergleich gegen Modellprofil (Soll-Limits). Score allein ≠ Beweis.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 FW kann Diagnose erschweren oder erleichtern (andere GATT-Antworten).</a:t>
            </a:r>
          </a:p>
          <a:p>
            <a:r>
              <a:t>Nie behaupten: „Version X = immer Tuning“ ohne Modellreferenz.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Didaktisch zentral: „Jetzt schnell“ ≠ „immer manipuliert gespeichert“.</a:t>
            </a:r>
          </a:p>
          <a:p>
            <a:r>
              <a:t>EvidenceEngine gewichtet flüchtige vs. persistente Indizien unterschiedlich.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Wichtig gegenüber dem Publikum: Lizenztools sind heterogen. Ohne Messung keine pauschale Aussage zu Persistenz.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Hardware-Tuning ist der Bereich, in dem BLE allein oft scheitert. Immer: Gehäuse, Siegel, Kabelbaum, Controller-Aufkleber.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Matrix als Spickzettel. Betonen: „BLE oft?“ heißt nicht „immer nachweisbar“.</a:t>
            </a:r>
          </a:p>
          <a:p>
            <a:r>
              <a:t>Frage aus dem Publikum erwarten: „Hilft Neustart-Test?“ → Ja, für Persistenz-Unterscheidung, wenn Diagnose möglich.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Kurz: BLE ist der Sensor-/Diagnosekanal der App — nicht Ortung wie GPS.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Quellen: Bluetooth SIG Core Spec / GATT; Apple CoreBluetooth.</a:t>
            </a:r>
          </a:p>
          <a:p>
            <a:r>
              <a:t>Advertising ≠ Diagnose. Viele Scooter brauchen Auth, bevor Characteristics lesbar sind.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 Folie merken lassen — sie strukturiert die gesamte Tool-Demo.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Ehrlich kommunizieren: ScooterCheck respektiert Auth-Grenzen (read-only, keine Exploits).</a:t>
            </a:r>
          </a:p>
          <a:p>
            <a:r>
              <a:t>iOS Hintergrundscan: service-gefiltert — siehe Radar-Doku.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 vorstellen ohne Feature-Überforderung. Hinweis: Screenshots bewusst nicht fingiert — Demo zeigt den aktuellen Build.</a:t>
            </a:r>
          </a:p>
          <a:p>
            <a:r>
              <a:t>Funktionen laut Produktionscode / Doku (Radar-Karte, Heatmap, Universal Diagnosis, EvidenceEngine).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Fingerprint: sichere Matches brauchen starke Merkmale (Services, Mfg-Data), nicht nur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Zulassungshinweise nur bei belastbarer Modellzuordnung (VehicleApprovalCatalog).</a:t>
            </a:r>
          </a:p>
          <a:p>
            <a:r>
              <a:t>Display darf ausgehen / Keep-Awake: Session bleibt logisch aktiv.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Opt-in Standort. Löschen betrifft nur Radar-Historie, nicht Prüfberichte/Wächter.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Innenraum: kein GPS-Ersatz. PDR/AR helfen, bleiben aber Schätzungen.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Universal Diagnosis: Herstellername ≠ Diagnose möglich. Nur verified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EvidenceClass laut Code: Info / Abweichung / Manipulationsindiz / starker Manipulationshinweis.</a:t>
            </a:r>
          </a:p>
          <a:p>
            <a:r>
              <a:t>Schwellen tuningSuspectKmh / tuningClearKmh sind profilbezogen.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Vergleichstests sind methodisch sauber und ethisch klar: keine eigene Manipulation.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Ablauf als Checkliste ausgeben. Visuell bleibt Schritt 1 — immer.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Demo-Plan B: Wenn kein Scooter / Auth scheitert → Advertising + Identifikation + Grenzen erklären.</a:t>
            </a:r>
          </a:p>
          <a:p>
            <a:r>
              <a:t>Niemals Auth umgehen oder Schreibbefehle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 Folie aktiv diskutieren — Fehlinterpretationen sind der häufigste Praxisfall.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Zusammenfassung langsam vorlesen. Offene Fragen sammeln.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Dank, Kontakthinweise der Organisation, TestFlight/Intern nach Bedarf.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Quellenfolie für Handout / Nacharbeit. Bei Nachfragen auf Doku im Repo verweisen.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pp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777240" cy="77724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600" b="1">
                <a:solidFill>
                  <a:srgbClr val="F5F7F8"/>
                </a:solidFill>
                <a:latin typeface="Helvetica Neue"/>
              </a:rPr>
              <a:t>E-Scooter-Tuning verstehen,
Manipulationen erkennen und analysieren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0">
                <a:solidFill>
                  <a:srgbClr val="6BDBC2"/>
                </a:solidFill>
                <a:latin typeface="Helvetica Neue"/>
              </a:rPr>
              <a:t>Technische Fortbildung für den Polizeidienst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05840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8B949E"/>
                </a:solidFill>
                <a:latin typeface="Helvetica Neue"/>
              </a:rPr>
              <a:t>ScooterCheck · Bluetooth-gestützte Diagnose &amp; EvidenceEngine
45–60 Minuten inkl. Live-Demo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1 / 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200" b="1">
                <a:solidFill>
                  <a:srgbClr val="F5F7F8"/>
                </a:solidFill>
                <a:latin typeface="Helvetica Neue"/>
              </a:rPr>
              <a:t>Lernziele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201168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6BDBC2"/>
                </a:solidFill>
                <a:latin typeface="Helvetica Neue"/>
              </a:rPr>
              <a:t>Verstehen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371600"/>
            <a:ext cx="804672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F5F7F8"/>
                </a:solidFill>
                <a:latin typeface="Helvetica Neue"/>
              </a:rPr>
              <a:t>Wie Geschwindigkeit elektronisch begrenzt wird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201168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6BDBC2"/>
                </a:solidFill>
                <a:latin typeface="Helvetica Neue"/>
              </a:rPr>
              <a:t>Unterscheiden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40280"/>
            <a:ext cx="804672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F5F7F8"/>
                </a:solidFill>
                <a:latin typeface="Helvetica Neue"/>
              </a:rPr>
              <a:t>Software-, Firmware-, Session-, Lizenz- und Hardware-Tuning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201168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6BDBC2"/>
                </a:solidFill>
                <a:latin typeface="Helvetica Neue"/>
              </a:rPr>
              <a:t>Einordnen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108960"/>
            <a:ext cx="804672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F5F7F8"/>
                </a:solidFill>
                <a:latin typeface="Helvetica Neue"/>
              </a:rPr>
              <a:t>Flüchtige vs. persistente Veränderungen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59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19"/>
            <a:ext cx="201168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6BDBC2"/>
                </a:solidFill>
                <a:latin typeface="Helvetica Neue"/>
              </a:rPr>
              <a:t>Analysieren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977639"/>
            <a:ext cx="804672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F5F7F8"/>
                </a:solidFill>
                <a:latin typeface="Helvetica Neue"/>
              </a:rPr>
              <a:t>Was BLE leisten kann — und was nicht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201168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6BDBC2"/>
                </a:solidFill>
                <a:latin typeface="Helvetica Neue"/>
              </a:rPr>
              <a:t>Anwenden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846320"/>
            <a:ext cx="804672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F5F7F8"/>
                </a:solidFill>
                <a:latin typeface="Helvetica Neue"/>
              </a:rPr>
              <a:t>ScooterCheck strukturiert Suche, Diagnose und Dokumentation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000" b="1">
                <a:solidFill>
                  <a:srgbClr val="F5F7F8"/>
                </a:solidFill>
                <a:latin typeface="Helvetica Neue"/>
              </a:rPr>
              <a:t>Was passiert technisch,
wenn ein E-Scooter plötzlich schneller fährt
als vorgesehen?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05840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8B949E"/>
                </a:solidFill>
                <a:latin typeface="Helvetica Neue"/>
              </a:rPr>
              <a:t>Die Antwort liegt selten in „mehr Leistung“ allein —
meist in veränderten Steuerparametern, Firmware oder Hardware.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560320"/>
            <a:ext cx="1463040" cy="365760"/>
          </a:xfrm>
          <a:prstGeom prst="roundRect">
            <a:avLst>
              <a:gd name="adj" fmla="val 35000"/>
            </a:avLst>
          </a:prstGeom>
          <a:solidFill>
            <a:srgbClr val="6BD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61C"/>
                </a:solidFill>
                <a:latin typeface="Helvetica Neue"/>
              </a:rPr>
              <a:t>Kapitel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7280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400" b="1">
                <a:solidFill>
                  <a:srgbClr val="F5F7F8"/>
                </a:solidFill>
                <a:latin typeface="Helvetica Neue"/>
              </a:rPr>
              <a:t>Technischer Aufbau eines E-Scooters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5F7F8"/>
                </a:solidFill>
                <a:latin typeface="Helvetica Neue"/>
              </a:rPr>
              <a:t>Typische Architektur (vereinfacht)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828800" cy="914400"/>
          </a:xfrm>
          <a:prstGeom prst="roundRect">
            <a:avLst/>
          </a:prstGeom>
          <a:solidFill>
            <a:srgbClr val="20262D"/>
          </a:solidFill>
          <a:ln w="19050"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8"/>
                </a:solidFill>
                <a:latin typeface="Helvetica Neue"/>
              </a:rPr>
              <a:t>Smartphone
ScooterCheck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188720"/>
            <a:ext cx="1828800" cy="914400"/>
          </a:xfrm>
          <a:prstGeom prst="roundRect">
            <a:avLst/>
          </a:prstGeom>
          <a:solidFill>
            <a:srgbClr val="20262D"/>
          </a:solidFill>
          <a:ln w="19050"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8"/>
                </a:solidFill>
                <a:latin typeface="Helvetica Neue"/>
              </a:rPr>
              <a:t>BLE-Modul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188720"/>
            <a:ext cx="1828800" cy="914400"/>
          </a:xfrm>
          <a:prstGeom prst="roundRect">
            <a:avLst/>
          </a:prstGeom>
          <a:solidFill>
            <a:srgbClr val="20262D"/>
          </a:solidFill>
          <a:ln w="19050"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8"/>
                </a:solidFill>
                <a:latin typeface="Helvetica Neue"/>
              </a:rPr>
              <a:t>MCU /
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188720"/>
            <a:ext cx="1828800" cy="914400"/>
          </a:xfrm>
          <a:prstGeom prst="roundRect">
            <a:avLst/>
          </a:prstGeom>
          <a:solidFill>
            <a:srgbClr val="20262D"/>
          </a:solidFill>
          <a:ln w="19050"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8"/>
                </a:solidFill>
                <a:latin typeface="Helvetica Neue"/>
              </a:rPr>
              <a:t>BMS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88720"/>
            <a:ext cx="1828800" cy="914400"/>
          </a:xfrm>
          <a:prstGeom prst="roundRect">
            <a:avLst/>
          </a:prstGeom>
          <a:solidFill>
            <a:srgbClr val="20262D"/>
          </a:solidFill>
          <a:ln w="19050"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8"/>
                </a:solidFill>
                <a:latin typeface="Helvetica Neue"/>
              </a:rPr>
              <a:t>Akku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3291840"/>
            <a:ext cx="1828800" cy="914400"/>
          </a:xfrm>
          <a:prstGeom prst="roundRect">
            <a:avLst/>
          </a:prstGeom>
          <a:solidFill>
            <a:srgbClr val="20262D"/>
          </a:solidFill>
          <a:ln w="19050"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8"/>
                </a:solidFill>
                <a:latin typeface="Helvetica Neue"/>
              </a:rPr>
              <a:t>Leistungs-
stufe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4846320"/>
            <a:ext cx="1828800" cy="914400"/>
          </a:xfrm>
          <a:prstGeom prst="roundRect">
            <a:avLst/>
          </a:prstGeom>
          <a:solidFill>
            <a:srgbClr val="20262D"/>
          </a:solidFill>
          <a:ln w="19050"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8"/>
                </a:solidFill>
                <a:latin typeface="Helvetica Neue"/>
              </a:rPr>
              <a:t>Motor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3291840"/>
            <a:ext cx="1828800" cy="914400"/>
          </a:xfrm>
          <a:prstGeom prst="roundRect">
            <a:avLst/>
          </a:prstGeom>
          <a:solidFill>
            <a:srgbClr val="20262D"/>
          </a:solidFill>
          <a:ln w="19050"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8"/>
                </a:solidFill>
                <a:latin typeface="Helvetica Neue"/>
              </a:rPr>
              <a:t>Display /
VCU*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291840"/>
            <a:ext cx="1828800" cy="914400"/>
          </a:xfrm>
          <a:prstGeom prst="roundRect">
            <a:avLst/>
          </a:prstGeom>
          <a:solidFill>
            <a:srgbClr val="20262D"/>
          </a:solidFill>
          <a:ln w="19050"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8"/>
                </a:solidFill>
                <a:latin typeface="Helvetica Neue"/>
              </a:rPr>
              <a:t>Sensorik
(Hall, Strom)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417320"/>
            <a:ext cx="54864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200" b="1">
                <a:solidFill>
                  <a:srgbClr val="6BDBC2"/>
                </a:solidFill>
                <a:latin typeface="Helvetica Neue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417320"/>
            <a:ext cx="54864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200" b="1">
                <a:solidFill>
                  <a:srgbClr val="6BDBC2"/>
                </a:solidFill>
                <a:latin typeface="Helvetica Neue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417320"/>
            <a:ext cx="54864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200" b="1">
                <a:solidFill>
                  <a:srgbClr val="6BDBC2"/>
                </a:solidFill>
                <a:latin typeface="Helvetica Neue"/>
              </a:rPr>
              <a:t>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417320"/>
            <a:ext cx="4572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200" b="1">
                <a:solidFill>
                  <a:srgbClr val="6BDBC2"/>
                </a:solidFill>
                <a:latin typeface="Helvetica Neue"/>
              </a:rP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286000"/>
            <a:ext cx="548640" cy="8229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200" b="1">
                <a:solidFill>
                  <a:srgbClr val="6BDBC2"/>
                </a:solidFill>
                <a:latin typeface="Helvetica Neue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297680"/>
            <a:ext cx="54864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200" b="1">
                <a:solidFill>
                  <a:srgbClr val="6BDBC2"/>
                </a:solidFill>
                <a:latin typeface="Helvetica Neue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8B949E"/>
                </a:solidFill>
                <a:latin typeface="Helvetica Neue"/>
              </a:rPr>
              <a:t>* VCU/Display nicht bei allen Modellen getrennt · Busse: UART / CAN / proprietär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5F7F8"/>
                </a:solidFill>
                <a:latin typeface="Helvetica Neue"/>
              </a:rPr>
              <a:t>Komponenten &amp; Rollen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MCU /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Drehzahl, Strom, Fahrmodi, Limits, Kommunikation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5156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BMS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84632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Zellschutz, Ladezustand, oft eigene Firmware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BLE-Modul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484632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Advertising, GATT, App-Protokoll — oft eigener Chip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60604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Firmware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46120"/>
            <a:ext cx="484632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Programmcode auf MCU/BMS/BLE — versioniert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Sensorik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484632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Hall/Encoder, Stromsensor, Temperatursensoren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16052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38912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Display / VCU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800600"/>
            <a:ext cx="484632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UI und ggf. zweite Steuerungsebene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560320"/>
            <a:ext cx="1463040" cy="365760"/>
          </a:xfrm>
          <a:prstGeom prst="roundRect">
            <a:avLst>
              <a:gd name="adj" fmla="val 35000"/>
            </a:avLst>
          </a:prstGeom>
          <a:solidFill>
            <a:srgbClr val="6BD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61C"/>
                </a:solidFill>
                <a:latin typeface="Helvetica Neue"/>
              </a:rPr>
              <a:t>Kapitel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7280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400" b="1">
                <a:solidFill>
                  <a:srgbClr val="F5F7F8"/>
                </a:solidFill>
                <a:latin typeface="Helvetica Neue"/>
              </a:rPr>
              <a:t>Wie wird Geschwindigkeit begrenzt?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600" b="1">
                <a:solidFill>
                  <a:srgbClr val="F5F7F8"/>
                </a:solidFill>
                <a:latin typeface="Helvetica Neue"/>
              </a:rPr>
              <a:t>Regelkreis der Geschwindigkeitsbegrenzung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011680" cy="1828800"/>
          </a:xfrm>
          <a:prstGeom prst="roundRect">
            <a:avLst/>
          </a:prstGeom>
          <a:solidFill>
            <a:srgbClr val="20262D"/>
          </a:solidFill>
          <a:ln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Soll-Limit
(Firmware /
Parameter)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651760"/>
            <a:ext cx="3657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6BDBC2"/>
                </a:solidFill>
                <a:latin typeface="Helvetica Neue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2011680"/>
            <a:ext cx="2011680" cy="1828800"/>
          </a:xfrm>
          <a:prstGeom prst="roundRect">
            <a:avLst/>
          </a:prstGeom>
          <a:solidFill>
            <a:srgbClr val="20262D"/>
          </a:solidFill>
          <a:ln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Drehzahl-
Istwert
(Hall)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651760"/>
            <a:ext cx="3657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6BDBC2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011680"/>
            <a:ext cx="2011680" cy="1828800"/>
          </a:xfrm>
          <a:prstGeom prst="roundRect">
            <a:avLst/>
          </a:prstGeom>
          <a:solidFill>
            <a:srgbClr val="20262D"/>
          </a:solidFill>
          <a:ln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Regler
(MCU)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651760"/>
            <a:ext cx="3657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6BDBC2"/>
                </a:solidFill>
                <a:latin typeface="Helvetica Neue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011680"/>
            <a:ext cx="2011680" cy="1828800"/>
          </a:xfrm>
          <a:prstGeom prst="roundRect">
            <a:avLst/>
          </a:prstGeom>
          <a:solidFill>
            <a:srgbClr val="20262D"/>
          </a:solidFill>
          <a:ln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Strom /
PWM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651760"/>
            <a:ext cx="3657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6BDBC2"/>
                </a:solidFill>
                <a:latin typeface="Helvetica Neue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2011680"/>
            <a:ext cx="2011680" cy="1828800"/>
          </a:xfrm>
          <a:prstGeom prst="roundRect">
            <a:avLst/>
          </a:prstGeom>
          <a:solidFill>
            <a:srgbClr val="20262D"/>
          </a:solidFill>
          <a:ln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Motor &amp;
Rad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789920" cy="13716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8B949E"/>
                </a:solidFill>
                <a:latin typeface="Helvetica Neue"/>
              </a:rPr>
              <a:t>Zusätzlich: Radumfang-Kalibrierung · Strom-/Leistungsgrenzen · Fahrmodus · regionale Profile.
Die App sieht oft nur das Ergebnis (Limit-Parameter), nicht den gesamten Regelkreis.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5F7F8"/>
                </a:solidFill>
                <a:latin typeface="Helvetica Neue"/>
              </a:rPr>
              <a:t>Drei Ebenen — nicht verwechseln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10896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8B949E"/>
                </a:solidFill>
                <a:latin typeface="Helvetica Neue"/>
              </a:rPr>
              <a:t>Maximale Motorleistung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3108960" cy="18288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Physikalisch möglich
(Akku, Controller, Motor)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19" y="137160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19" y="1737360"/>
            <a:ext cx="310896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6BDBC2"/>
                </a:solidFill>
                <a:latin typeface="Helvetica Neue"/>
              </a:rPr>
              <a:t>Elektronisches Limit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19" y="2926080"/>
            <a:ext cx="3108960" cy="18288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Firmware-/Parametergrenze
(Sollwert im Regler)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371600"/>
            <a:ext cx="3566160" cy="38404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1737360"/>
            <a:ext cx="310896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F5F7F8"/>
                </a:solidFill>
                <a:latin typeface="Helvetica Neue"/>
              </a:rPr>
              <a:t>Tatsächlich gefahren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926080"/>
            <a:ext cx="3108960" cy="18288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Umgebung, Last, Akku,
Fahrbahn, Nutzer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560320"/>
            <a:ext cx="1463040" cy="365760"/>
          </a:xfrm>
          <a:prstGeom prst="roundRect">
            <a:avLst>
              <a:gd name="adj" fmla="val 35000"/>
            </a:avLst>
          </a:prstGeom>
          <a:solidFill>
            <a:srgbClr val="6BD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61C"/>
                </a:solidFill>
                <a:latin typeface="Helvetica Neue"/>
              </a:rPr>
              <a:t>Kapitel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7280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400" b="1">
                <a:solidFill>
                  <a:srgbClr val="F5F7F8"/>
                </a:solidFill>
                <a:latin typeface="Helvetica Neue"/>
              </a:rPr>
              <a:t>Arten von E-Scooter-Tuning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8B949E"/>
                </a:solidFill>
                <a:latin typeface="Helvetica Neue"/>
              </a:rPr>
              <a:t>Methoden getrennt betrachten — keine Vermischung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600" b="1">
                <a:solidFill>
                  <a:srgbClr val="6BDBC2"/>
                </a:solidFill>
                <a:latin typeface="Helvetica Neue"/>
              </a:rPr>
              <a:t>1 · Software- / Parameter-Tuning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61872"/>
            <a:ext cx="50292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Was &amp; wo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Änderung von Konfigurationswerten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Geschwindigkeitslimits, Modi, Region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Ort: NVM / Flash der MCU (oder App-Spiegel)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Firmware-Binärcode oft unverändert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261872"/>
            <a:ext cx="50292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Persistenz &amp; Spuren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Häufig dauerhaft nach Neustart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BLE: Limit-/Region-Parameter lesbar, wenn Protokoll es erlaubt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Kein Custom-FW-Fingerprint nötig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Modellabhängig — nicht pauschalisieren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600" b="1">
                <a:solidFill>
                  <a:srgbClr val="6BDBC2"/>
                </a:solidFill>
                <a:latin typeface="Helvetica Neue"/>
              </a:rPr>
              <a:t>2 · Firmware-Tuning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61872"/>
            <a:ext cx="50292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Was &amp; wo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Modifizierter Programmcode (Flash)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Custom Firmware / gepatchte Images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Kann Checks, Limits, Auth umgehen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Oft eigene Versionsstrings / Builds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261872"/>
            <a:ext cx="50292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Persistenz &amp; Spuren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Persistent bis zum erneuten Flash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Versions-/Build-Abweichungen möglich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BLE-Verhalten kann abweichen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Referenz: bekannte Serien-Firmware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400" b="1">
                <a:solidFill>
                  <a:srgbClr val="6BDBC2"/>
                </a:solidFill>
                <a:latin typeface="Helvetica Neue"/>
              </a:rPr>
              <a:t>3 · Temporäre Freischaltungen (Session / Soft-Unlock)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61872"/>
            <a:ext cx="50292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Was &amp; wo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Änderung oft nur im RAM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Während aktiver Sitzung wirksam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Nach Reset / Akku-Trennung weg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Kein dauerhafter Flash nötig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261872"/>
            <a:ext cx="50292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Nachweisbarkeit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Nach Neustart: Spuren oft dünn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Während Session: Limit ggf. lesbar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Historische Peaks können bleiben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Nicht mit Flash-Tuning gleichsetzen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600" b="1">
                <a:solidFill>
                  <a:srgbClr val="6BDBC2"/>
                </a:solidFill>
                <a:latin typeface="Helvetica Neue"/>
              </a:rPr>
              <a:t>4 · Lizenzcode- / App-Freischaltung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61872"/>
            <a:ext cx="50292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Prinzip (allgemein)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Aktivierung über App / Code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Kann temporär oder persistent sein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Technisch: Schreibbefehl an MCU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Nicht automatisch = RAM-only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261872"/>
            <a:ext cx="50292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Einordnung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Wirkung modell- und toolabhängig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Persistenz prüfen (Neustart-Test)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BLE-Auslesbarkeit wie bei Parametern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Keine Gleichsetzung aller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600" b="1">
                <a:solidFill>
                  <a:srgbClr val="6BDBC2"/>
                </a:solidFill>
                <a:latin typeface="Helvetica Neue"/>
              </a:rPr>
              <a:t>5 · Hardware-Tuning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61872"/>
            <a:ext cx="50292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Was &amp; wo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Controller-Austausch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Tuningmodule / Signalmanipulation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Sensorik-Eingriffe (selten)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Sichtbare Bauteil-/Kabelspuren möglich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261872"/>
            <a:ext cx="50292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BLE-Bezug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BLE-Identität kann unverändert bleiben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Oder komplett anderes Modul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Diagnose ggf. unmöglich / anders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Visuelle Prüfung bleibt essenziell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74320"/>
            <a:ext cx="100584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400" b="1">
                <a:solidFill>
                  <a:srgbClr val="F5F7F8"/>
                </a:solidFill>
                <a:latin typeface="Helvetica Neue"/>
              </a:rPr>
              <a:t>Persistenz &amp; Nachweisbarkeit (Überblick)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2194560" cy="502920"/>
          </a:xfrm>
          <a:prstGeom prst="rect">
            <a:avLst/>
          </a:prstGeom>
          <a:solidFill>
            <a:srgbClr val="6BD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161C"/>
                </a:solidFill>
                <a:latin typeface="Helvetica Neue"/>
              </a:rPr>
              <a:t>Tuningart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914400"/>
            <a:ext cx="2011680" cy="502920"/>
          </a:xfrm>
          <a:prstGeom prst="rect">
            <a:avLst/>
          </a:prstGeom>
          <a:solidFill>
            <a:srgbClr val="6BD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161C"/>
                </a:solidFill>
                <a:latin typeface="Helvetica Neue"/>
              </a:rPr>
              <a:t>Nach Neustart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914400"/>
            <a:ext cx="4206240" cy="502920"/>
          </a:xfrm>
          <a:prstGeom prst="rect">
            <a:avLst/>
          </a:prstGeom>
          <a:solidFill>
            <a:srgbClr val="6BD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161C"/>
                </a:solidFill>
                <a:latin typeface="Helvetica Neue"/>
              </a:rPr>
              <a:t>Typische Spuren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914400"/>
            <a:ext cx="2194560" cy="502920"/>
          </a:xfrm>
          <a:prstGeom prst="rect">
            <a:avLst/>
          </a:prstGeom>
          <a:solidFill>
            <a:srgbClr val="6BD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161C"/>
                </a:solidFill>
                <a:latin typeface="Helvetica Neue"/>
              </a:rPr>
              <a:t>BLE oft?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194560" cy="777240"/>
          </a:xfrm>
          <a:prstGeom prst="rect">
            <a:avLst/>
          </a:prstGeom>
          <a:solidFill>
            <a:srgbClr val="20262D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8"/>
                </a:solidFill>
                <a:latin typeface="Helvetica Neue"/>
              </a:rPr>
              <a:t>Parameter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17320"/>
            <a:ext cx="2011680" cy="777240"/>
          </a:xfrm>
          <a:prstGeom prst="rect">
            <a:avLst/>
          </a:prstGeom>
          <a:solidFill>
            <a:srgbClr val="20262D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5F7F8"/>
                </a:solidFill>
                <a:latin typeface="Helvetica Neue"/>
              </a:rPr>
              <a:t>meist ja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417320"/>
            <a:ext cx="4206240" cy="777240"/>
          </a:xfrm>
          <a:prstGeom prst="rect">
            <a:avLst/>
          </a:prstGeom>
          <a:solidFill>
            <a:srgbClr val="20262D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5F7F8"/>
                </a:solidFill>
                <a:latin typeface="Helvetica Neue"/>
              </a:rPr>
              <a:t>Limit / Region / Modi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417320"/>
            <a:ext cx="2194560" cy="777240"/>
          </a:xfrm>
          <a:prstGeom prst="rect">
            <a:avLst/>
          </a:prstGeom>
          <a:solidFill>
            <a:srgbClr val="20262D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5F7F8"/>
                </a:solidFill>
                <a:latin typeface="Helvetica Neue"/>
              </a:rPr>
              <a:t>wenn Protokoll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2194560" cy="777240"/>
          </a:xfrm>
          <a:prstGeom prst="rect">
            <a:avLst/>
          </a:prstGeom>
          <a:solidFill>
            <a:srgbClr val="1A1F26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8"/>
                </a:solidFill>
                <a:latin typeface="Helvetica Neue"/>
              </a:rPr>
              <a:t>Firmware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194560"/>
            <a:ext cx="2011680" cy="777240"/>
          </a:xfrm>
          <a:prstGeom prst="rect">
            <a:avLst/>
          </a:prstGeom>
          <a:solidFill>
            <a:srgbClr val="1A1F26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5F7F8"/>
                </a:solidFill>
                <a:latin typeface="Helvetica Neue"/>
              </a:rPr>
              <a:t>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194560"/>
            <a:ext cx="4206240" cy="777240"/>
          </a:xfrm>
          <a:prstGeom prst="rect">
            <a:avLst/>
          </a:prstGeom>
          <a:solidFill>
            <a:srgbClr val="1A1F26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5F7F8"/>
                </a:solidFill>
                <a:latin typeface="Helvetica Neue"/>
              </a:rPr>
              <a:t>Version / Build / Verhalten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194560"/>
            <a:ext cx="2194560" cy="777240"/>
          </a:xfrm>
          <a:prstGeom prst="rect">
            <a:avLst/>
          </a:prstGeom>
          <a:solidFill>
            <a:srgbClr val="1A1F26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5F7F8"/>
                </a:solidFill>
                <a:latin typeface="Helvetica Neue"/>
              </a:rPr>
              <a:t>teilweise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71800"/>
            <a:ext cx="2194560" cy="777240"/>
          </a:xfrm>
          <a:prstGeom prst="rect">
            <a:avLst/>
          </a:prstGeom>
          <a:solidFill>
            <a:srgbClr val="20262D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8"/>
                </a:solidFill>
                <a:latin typeface="Helvetica Neue"/>
              </a:rPr>
              <a:t>Session / 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971800"/>
            <a:ext cx="2011680" cy="777240"/>
          </a:xfrm>
          <a:prstGeom prst="rect">
            <a:avLst/>
          </a:prstGeom>
          <a:solidFill>
            <a:srgbClr val="20262D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5F7F8"/>
                </a:solidFill>
                <a:latin typeface="Helvetica Neue"/>
              </a:rPr>
              <a:t>meist nein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971800"/>
            <a:ext cx="4206240" cy="777240"/>
          </a:xfrm>
          <a:prstGeom prst="rect">
            <a:avLst/>
          </a:prstGeom>
          <a:solidFill>
            <a:srgbClr val="20262D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5F7F8"/>
                </a:solidFill>
                <a:latin typeface="Helvetica Neue"/>
              </a:rPr>
              <a:t>Peaks / Session-Logs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971800"/>
            <a:ext cx="2194560" cy="777240"/>
          </a:xfrm>
          <a:prstGeom prst="rect">
            <a:avLst/>
          </a:prstGeom>
          <a:solidFill>
            <a:srgbClr val="20262D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5F7F8"/>
                </a:solidFill>
                <a:latin typeface="Helvetica Neue"/>
              </a:rPr>
              <a:t>nur 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49039"/>
            <a:ext cx="2194560" cy="777240"/>
          </a:xfrm>
          <a:prstGeom prst="rect">
            <a:avLst/>
          </a:prstGeom>
          <a:solidFill>
            <a:srgbClr val="1A1F26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8"/>
                </a:solidFill>
                <a:latin typeface="Helvetica Neue"/>
              </a:rPr>
              <a:t>Lizenzcode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3749039"/>
            <a:ext cx="2011680" cy="777240"/>
          </a:xfrm>
          <a:prstGeom prst="rect">
            <a:avLst/>
          </a:prstGeom>
          <a:solidFill>
            <a:srgbClr val="1A1F26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5F7F8"/>
                </a:solidFill>
                <a:latin typeface="Helvetica Neue"/>
              </a:rPr>
              <a:t>variabel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3749039"/>
            <a:ext cx="4206240" cy="777240"/>
          </a:xfrm>
          <a:prstGeom prst="rect">
            <a:avLst/>
          </a:prstGeom>
          <a:solidFill>
            <a:srgbClr val="1A1F26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5F7F8"/>
                </a:solidFill>
                <a:latin typeface="Helvetica Neue"/>
              </a:rPr>
              <a:t>wie Parameter oder Session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3749039"/>
            <a:ext cx="2194560" cy="777240"/>
          </a:xfrm>
          <a:prstGeom prst="rect">
            <a:avLst/>
          </a:prstGeom>
          <a:solidFill>
            <a:srgbClr val="1A1F26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5F7F8"/>
                </a:solidFill>
                <a:latin typeface="Helvetica Neue"/>
              </a:rPr>
              <a:t>variabel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2194560" cy="777240"/>
          </a:xfrm>
          <a:prstGeom prst="rect">
            <a:avLst/>
          </a:prstGeom>
          <a:solidFill>
            <a:srgbClr val="20262D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8"/>
                </a:solidFill>
                <a:latin typeface="Helvetica Neue"/>
              </a:rPr>
              <a:t>Hardware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4526280"/>
            <a:ext cx="2011680" cy="777240"/>
          </a:xfrm>
          <a:prstGeom prst="rect">
            <a:avLst/>
          </a:prstGeom>
          <a:solidFill>
            <a:srgbClr val="20262D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5F7F8"/>
                </a:solidFill>
                <a:latin typeface="Helvetica Neue"/>
              </a:rPr>
              <a:t>ja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4526280"/>
            <a:ext cx="4206240" cy="777240"/>
          </a:xfrm>
          <a:prstGeom prst="rect">
            <a:avLst/>
          </a:prstGeom>
          <a:solidFill>
            <a:srgbClr val="20262D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5F7F8"/>
                </a:solidFill>
                <a:latin typeface="Helvetica Neue"/>
              </a:rPr>
              <a:t>Bauteile, ggf. anderes 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4526280"/>
            <a:ext cx="2194560" cy="777240"/>
          </a:xfrm>
          <a:prstGeom prst="rect">
            <a:avLst/>
          </a:prstGeom>
          <a:solidFill>
            <a:srgbClr val="20262D"/>
          </a:solidFill>
          <a:ln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F5F7F8"/>
                </a:solidFill>
                <a:latin typeface="Helvetica Neue"/>
              </a:rPr>
              <a:t>unsicher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300" b="0">
                <a:solidFill>
                  <a:srgbClr val="8B949E"/>
                </a:solidFill>
                <a:latin typeface="Helvetica Neue"/>
              </a:rPr>
              <a:t>Immer modell-, firmware- und protokollabhängig — keine Universalsätze.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560320"/>
            <a:ext cx="1463040" cy="365760"/>
          </a:xfrm>
          <a:prstGeom prst="roundRect">
            <a:avLst>
              <a:gd name="adj" fmla="val 35000"/>
            </a:avLst>
          </a:prstGeom>
          <a:solidFill>
            <a:srgbClr val="6BD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61C"/>
                </a:solidFill>
                <a:latin typeface="Helvetica Neue"/>
              </a:rPr>
              <a:t>Kapitel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7280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400" b="1">
                <a:solidFill>
                  <a:srgbClr val="F5F7F8"/>
                </a:solidFill>
                <a:latin typeface="Helvetica Neue"/>
              </a:rPr>
              <a:t>Bluetooth Low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5F7F8"/>
                </a:solidFill>
                <a:latin typeface="Helvetica Neue"/>
              </a:rPr>
              <a:t>BLE in fünf Begriffen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10881360" cy="804672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07008"/>
            <a:ext cx="256032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1">
                <a:solidFill>
                  <a:srgbClr val="6BDBC2"/>
                </a:solidFill>
                <a:latin typeface="Helvetica Neue"/>
              </a:rPr>
              <a:t>Advertising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207008"/>
            <a:ext cx="768096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Kurze Broadcasts: Name, UUIDs, Manufacturer Data — ohne Verbindung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881360" cy="804672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256032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1">
                <a:solidFill>
                  <a:srgbClr val="6BDBC2"/>
                </a:solidFill>
                <a:latin typeface="Helvetica Neue"/>
              </a:rPr>
              <a:t>Service UUID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21408"/>
            <a:ext cx="768096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Kennzeichnet angebotene Dienste (Standard oder proprietär)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10881360" cy="804672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256032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1">
                <a:solidFill>
                  <a:srgbClr val="6BDBC2"/>
                </a:solidFill>
                <a:latin typeface="Helvetica Neue"/>
              </a:rPr>
              <a:t>Manufacturer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35808"/>
            <a:ext cx="768096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Hersteller-Payload im Advertising — oft modellrelevant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40"/>
            <a:ext cx="10881360" cy="804672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50208"/>
            <a:ext cx="256032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1">
                <a:solidFill>
                  <a:srgbClr val="6BDBC2"/>
                </a:solidFill>
                <a:latin typeface="Helvetica Neue"/>
              </a:rPr>
              <a:t>GATT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950208"/>
            <a:ext cx="768096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Tabellenmodell aus Services/Characteristics nach Verbindungsaufbau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10881360" cy="804672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64608"/>
            <a:ext cx="256032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1">
                <a:solidFill>
                  <a:srgbClr val="6BDBC2"/>
                </a:solidFill>
                <a:latin typeface="Helvetica Neue"/>
              </a:rPr>
              <a:t>RSSI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864608"/>
            <a:ext cx="7680960" cy="5029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Empfangspegel am Handy — relativ, störanfällig, kein Abstandsmesser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600" b="1">
                <a:solidFill>
                  <a:srgbClr val="F5F7F8"/>
                </a:solidFill>
                <a:latin typeface="Helvetica Neue"/>
              </a:rPr>
              <a:t>Fünf unterschiedliche Fähigkeiten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8288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800" b="1">
                <a:solidFill>
                  <a:srgbClr val="6BDBC2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82880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Signal erkennen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82880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0">
                <a:solidFill>
                  <a:srgbClr val="8B949E"/>
                </a:solidFill>
                <a:latin typeface="Helvetica Neue"/>
              </a:rPr>
              <a:t>Advertising empfangen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64592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920240"/>
            <a:ext cx="18288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800" b="1">
                <a:solidFill>
                  <a:srgbClr val="6BDBC2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51760"/>
            <a:ext cx="182880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Identifizieren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840480"/>
            <a:ext cx="182880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0">
                <a:solidFill>
                  <a:srgbClr val="8B949E"/>
                </a:solidFill>
                <a:latin typeface="Helvetica Neue"/>
              </a:rPr>
              <a:t>Name, UUID, Fingerprint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64592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920240"/>
            <a:ext cx="18288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800" b="1">
                <a:solidFill>
                  <a:srgbClr val="6BDBC2"/>
                </a:solidFill>
                <a:latin typeface="Helvetica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651760"/>
            <a:ext cx="182880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Verbinden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840480"/>
            <a:ext cx="182880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0">
                <a:solidFill>
                  <a:srgbClr val="8B949E"/>
                </a:solidFill>
                <a:latin typeface="Helvetica Neue"/>
              </a:rPr>
              <a:t>GATT-Connect + ggf. Auth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64592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1920240"/>
            <a:ext cx="18288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800" b="1">
                <a:solidFill>
                  <a:srgbClr val="6BDBC2"/>
                </a:solidFill>
                <a:latin typeface="Helvetica Ne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651760"/>
            <a:ext cx="182880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Diagnose lesen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3840480"/>
            <a:ext cx="182880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0">
                <a:solidFill>
                  <a:srgbClr val="8B949E"/>
                </a:solidFill>
                <a:latin typeface="Helvetica Neue"/>
              </a:rPr>
              <a:t>Parameter / FW / BMS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164592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920240"/>
            <a:ext cx="18288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800" b="1">
                <a:solidFill>
                  <a:srgbClr val="6BDBC2"/>
                </a:solidFill>
                <a:latin typeface="Helvetica Neue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651760"/>
            <a:ext cx="182880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Bewerten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840480"/>
            <a:ext cx="182880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0">
                <a:solidFill>
                  <a:srgbClr val="8B949E"/>
                </a:solidFill>
                <a:latin typeface="Helvetica Neue"/>
              </a:rPr>
              <a:t>EvidenceEngine / Profile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Erkannt ≠ auslesbar. Auslesbar ≠ Manipulation bewiesen.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5F7F8"/>
                </a:solidFill>
                <a:latin typeface="Helvetica Neue"/>
              </a:rPr>
              <a:t>Grenzen der BLE-Analyse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61872"/>
            <a:ext cx="103327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RSSI schwankt durch Körper, Metall, Mehrwegeausbreitung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3327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Bereits verbundene Apps können den Zugriff blockieren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03327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Proprietäre / verschlüsselte Protokolle → keine Umgehung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56432"/>
            <a:ext cx="103327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Nicht dokumentierte Register bleiben unsichtbar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87952"/>
            <a:ext cx="103327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Custom Firmware kann Diagnosefelder verfälschen oder leeren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5488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19472"/>
            <a:ext cx="103327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Fehlende Auffälligkeit ≠ Serienzustand bewiesen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pic>
        <p:nvPicPr>
          <p:cNvPr id="4" name="Picture 3" descr="app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77440" y="1463040"/>
            <a:ext cx="8686800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3600" b="1">
                <a:solidFill>
                  <a:srgbClr val="F5F7F8"/>
                </a:solidFill>
                <a:latin typeface="Helvetica Neue"/>
              </a:rPr>
              <a:t>ScooterCheck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194560"/>
            <a:ext cx="86868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0">
                <a:solidFill>
                  <a:srgbClr val="6BDBC2"/>
                </a:solidFill>
                <a:latin typeface="Helvetica Neue"/>
              </a:rPr>
              <a:t>Technische E-Scooter-Analyse über Bluetooth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926080"/>
            <a:ext cx="86868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▸  iOS-App · CoreBluetooth · lokaler Fokus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383280"/>
            <a:ext cx="86868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▸  Erkennung, Identifikation, Radar, Karte, Feinsuche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840480"/>
            <a:ext cx="86868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▸  Read-only-Diagnose (modellabhängig)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297680"/>
            <a:ext cx="86868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▸  EvidenceEngine: Indizien → strukturierte Bewertung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754880"/>
            <a:ext cx="86868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▸  Dokumentation / Berichte für die Nacharbeit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8B949E"/>
                </a:solidFill>
                <a:latin typeface="Helvetica Neue"/>
              </a:rPr>
              <a:t>UI-Details: Live-Demo · keine fingierten Screenshots in dieser Datei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5F7F8"/>
                </a:solidFill>
                <a:latin typeface="Helvetica Neue"/>
              </a:rPr>
              <a:t>Signal-Finder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61872"/>
            <a:ext cx="50292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Leistung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Scooter- und allgemeine BLE-Suche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RSSI-Klassen (sehr stark → schwach)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Geräteidentifikation + Fingerprint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Ähnlichkeit ≠ sichere Identität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Pfad-Heatmap &amp; Heading-Unterstützung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261872"/>
            <a:ext cx="50292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Nutzen für die Praxis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Schnelles Auffinden in Reichweite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Trennung Scooter vs. Fremd-BLE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Wiedererkennung über Fingerprint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Kein Ersatz für sichtbare Kontrolle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Indoor: Grenzen der Ortung beachten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5F7F8"/>
                </a:solidFill>
                <a:latin typeface="Helvetica Neue"/>
              </a:rPr>
              <a:t>E-Scooter-Radar</a:t>
            </a:r>
          </a:p>
        </p:txBody>
      </p:sp>
      <p:pic>
        <p:nvPicPr>
          <p:cNvPr id="5" name="Picture 4" descr="sc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371600"/>
            <a:ext cx="2743200" cy="4109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097280"/>
            <a:ext cx="7772400" cy="457200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61872"/>
            <a:ext cx="740664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Automatische Erkennung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Aktive Session · BLE-Suche während des Einsatzes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Treffer ab konfigurierbarer Signalstärke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Hintergrund: iOS kann einschränken (Service-Filter)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Modellhinweise + Zulassungsstatus prüfen (Katalog)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Beispiel: „KuKirin G4 erkannt — Zulassung prüfen“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5F7F8"/>
                </a:solidFill>
                <a:latin typeface="Helvetica Neue"/>
              </a:rPr>
              <a:t>•  Kein automatischer Diagnose-Connect im Hintergrund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5F7F8"/>
                </a:solidFill>
                <a:latin typeface="Helvetica Neue"/>
              </a:rPr>
              <a:t>Radar-Karte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6BDBC2"/>
                </a:solidFill>
                <a:latin typeface="Helvetica Neue"/>
              </a:rPr>
              <a:t>Die Karte zeigt den Empfangsort des Smartphones —
nicht die exakte Position des Scooters.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310896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Zeitfilter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3108960" cy="11887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24h · 48h · 7d · 14d · Gesamt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19" y="283464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3108960"/>
            <a:ext cx="310896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Historie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840480"/>
            <a:ext cx="3108960" cy="11887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Sichtungen, Wiederholungen, Heatmap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83464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3108960"/>
            <a:ext cx="310896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Verwaltung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3840480"/>
            <a:ext cx="3108960" cy="11887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Löschen · Ausblenden · Einblenden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5F7F8"/>
                </a:solidFill>
                <a:latin typeface="Helvetica Neue"/>
              </a:rPr>
              <a:t>Heatmap &amp; Feinsuche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F26B66"/>
                </a:solidFill>
                <a:latin typeface="Helvetica Neue"/>
              </a:rPr>
              <a:t>Unzuverlässig allein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46320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•  Statischer „Richtungspfeil“ aus RSSI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846320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•  Einzelmessung = Abstand?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846320" cy="6400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•  Ignorieren von Mehrweg/Abschattung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84632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Systematische Heatmap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84632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•  RSSI entlang des Laufwegs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71800"/>
            <a:ext cx="484632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•  Stärkster Bereich markieren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57600"/>
            <a:ext cx="484632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•  Haptik/Ton als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343400"/>
            <a:ext cx="484632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•  Indoor: relative Rekonstruktion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5F7F8"/>
                </a:solidFill>
                <a:latin typeface="Helvetica Neue"/>
              </a:rPr>
              <a:t>Diagnose (read-only)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2011680" cy="1188720"/>
          </a:xfrm>
          <a:prstGeom prst="roundRect">
            <a:avLst/>
          </a:prstGeom>
          <a:solidFill>
            <a:srgbClr val="20262D"/>
          </a:solidFill>
          <a:ln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Verbinden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554480"/>
            <a:ext cx="3657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6BDBC2"/>
                </a:solidFill>
                <a:latin typeface="Helvetica Neue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188720"/>
            <a:ext cx="2011680" cy="1188720"/>
          </a:xfrm>
          <a:prstGeom prst="roundRect">
            <a:avLst/>
          </a:prstGeom>
          <a:solidFill>
            <a:srgbClr val="20262D"/>
          </a:solidFill>
          <a:ln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Auth*
(modellabh.)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3657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6BDBC2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188720"/>
            <a:ext cx="2011680" cy="1188720"/>
          </a:xfrm>
          <a:prstGeom prst="roundRect">
            <a:avLst/>
          </a:prstGeom>
          <a:solidFill>
            <a:srgbClr val="20262D"/>
          </a:solidFill>
          <a:ln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Parameter
lesen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554480"/>
            <a:ext cx="3657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6BDBC2"/>
                </a:solidFill>
                <a:latin typeface="Helvetica Neue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188720"/>
            <a:ext cx="2011680" cy="1188720"/>
          </a:xfrm>
          <a:prstGeom prst="roundRect">
            <a:avLst/>
          </a:prstGeom>
          <a:solidFill>
            <a:srgbClr val="20262D"/>
          </a:solidFill>
          <a:ln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Profil-
vergleich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554480"/>
            <a:ext cx="36576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800" b="1">
                <a:solidFill>
                  <a:srgbClr val="6BDBC2"/>
                </a:solidFill>
                <a:latin typeface="Helvetica Neue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1188720"/>
            <a:ext cx="2011680" cy="1188720"/>
          </a:xfrm>
          <a:prstGeom prst="roundRect">
            <a:avLst/>
          </a:prstGeom>
          <a:solidFill>
            <a:srgbClr val="20262D"/>
          </a:solidFill>
          <a:ln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Bericht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8B949E"/>
                </a:solidFill>
                <a:latin typeface="Helvetica Neue"/>
              </a:rPr>
              <a:t>Mögliche Felder (nur wenn das Protokoll sie liefert)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0040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24231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Seriennummern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20040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3429000"/>
            <a:ext cx="24231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MCU- / BLE- / BMS-FW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20040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29000"/>
            <a:ext cx="24231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Region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20040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3429000"/>
            <a:ext cx="24231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Speed-Limit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0624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34840"/>
            <a:ext cx="24231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Fahrmodi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420624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4434840"/>
            <a:ext cx="24231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Betriebsdaten / Peaks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20624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434840"/>
            <a:ext cx="24231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DIS (GATT)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4206240"/>
            <a:ext cx="2697480" cy="8229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4434840"/>
            <a:ext cx="24231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1">
                <a:solidFill>
                  <a:srgbClr val="F5F7F8"/>
                </a:solidFill>
                <a:latin typeface="Helvetica Neue"/>
              </a:rPr>
              <a:t>VCU (falls vorhanden)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200" b="0">
                <a:solidFill>
                  <a:srgbClr val="8B949E"/>
                </a:solidFill>
                <a:latin typeface="Helvetica Neue"/>
              </a:rPr>
              <a:t>* Keine Auth-Umgehung · fehlende Werte = „Nicht verfügbar“ · Support: fullNative / gattReadonly / researchHintOnly / 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74320"/>
            <a:ext cx="100584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5F7F8"/>
                </a:solidFill>
                <a:latin typeface="Helvetica Neue"/>
              </a:rPr>
              <a:t>EvidenceEngine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8B949E"/>
                </a:solidFill>
                <a:latin typeface="Helvetica Neue"/>
              </a:rPr>
              <a:t>Einzelwerte → Indizienklassen → verdichtete Bewertung (kein Gerichtsurteil)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246888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400" b="1">
                <a:solidFill>
                  <a:srgbClr val="6BDBC2"/>
                </a:solidFill>
                <a:latin typeface="Helvetica Neue"/>
              </a:rPr>
              <a:t>Info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468880" cy="7315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0">
                <a:solidFill>
                  <a:srgbClr val="F5F7F8"/>
                </a:solidFill>
                <a:latin typeface="Helvetica Neue"/>
              </a:rPr>
              <a:t>Rohwert / Kontext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00200"/>
            <a:ext cx="246888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400" b="1">
                <a:solidFill>
                  <a:srgbClr val="6BDBC2"/>
                </a:solidFill>
                <a:latin typeface="Helvetica Neue"/>
              </a:rPr>
              <a:t>Abweichung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94560"/>
            <a:ext cx="2468880" cy="7315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0">
                <a:solidFill>
                  <a:srgbClr val="F5F7F8"/>
                </a:solidFill>
                <a:latin typeface="Helvetica Neue"/>
              </a:rPr>
              <a:t>Abweichung vom Profil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246888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400" b="1">
                <a:solidFill>
                  <a:srgbClr val="6BDBC2"/>
                </a:solidFill>
                <a:latin typeface="Helvetica Neue"/>
              </a:rPr>
              <a:t>Manipulationsindiz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2468880" cy="7315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0">
                <a:solidFill>
                  <a:srgbClr val="F5F7F8"/>
                </a:solidFill>
                <a:latin typeface="Helvetica Neue"/>
              </a:rPr>
              <a:t>Auffälliges Muster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37160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600200"/>
            <a:ext cx="246888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400" b="1">
                <a:solidFill>
                  <a:srgbClr val="6BDBC2"/>
                </a:solidFill>
                <a:latin typeface="Helvetica Neue"/>
              </a:rPr>
              <a:t>starker Hinweis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194560"/>
            <a:ext cx="2468880" cy="7315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300" b="0">
                <a:solidFill>
                  <a:srgbClr val="F5F7F8"/>
                </a:solidFill>
                <a:latin typeface="Helvetica Neue"/>
              </a:rPr>
              <a:t>Mehrere starke Indizien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10881360" cy="228600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94760"/>
            <a:ext cx="103327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1">
                <a:solidFill>
                  <a:srgbClr val="6BDBC2"/>
                </a:solidFill>
                <a:latin typeface="Helvetica Neue"/>
              </a:rPr>
              <a:t>Beispielhafte Indizien (modellabhängig)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10332720" cy="12801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• Abweichendes Speed-Limit  ·  Custom-/unbekannte Firmware  ·  inkonsistente Seriennummern
• auffällige Region  ·  Peak über Clear-Schwelle  ·  widersprüchliche Steuergeräteangaben
Mehrere unabhängige Indizien &gt; einzelner Messwert. Score ist Hilfsmittel, kein Beweis.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5F7F8"/>
                </a:solidFill>
                <a:latin typeface="Helvetica Neue"/>
              </a:rPr>
              <a:t>Kontrollierter Vergleich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8B949E"/>
                </a:solidFill>
                <a:latin typeface="Helvetica Neue"/>
              </a:rPr>
              <a:t>Messwerte vor und nach einem beobachteten Zustandswechsel
— ohne selbst zu manipulieren.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2468880" cy="2286000"/>
          </a:xfrm>
          <a:prstGeom prst="roundRect">
            <a:avLst/>
          </a:prstGeom>
          <a:solidFill>
            <a:srgbClr val="20262D"/>
          </a:solidFill>
          <a:ln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A
Ist-Zustand
dokumentieren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286000"/>
            <a:ext cx="2468880" cy="2286000"/>
          </a:xfrm>
          <a:prstGeom prst="roundRect">
            <a:avLst/>
          </a:prstGeom>
          <a:solidFill>
            <a:srgbClr val="20262D"/>
          </a:solidFill>
          <a:ln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B
Ereignis
beobachten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286000"/>
            <a:ext cx="2468880" cy="2286000"/>
          </a:xfrm>
          <a:prstGeom prst="roundRect">
            <a:avLst/>
          </a:prstGeom>
          <a:solidFill>
            <a:srgbClr val="20262D"/>
          </a:solidFill>
          <a:ln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C
Erneut
auslesen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2286000"/>
            <a:ext cx="2468880" cy="2286000"/>
          </a:xfrm>
          <a:prstGeom prst="roundRect">
            <a:avLst/>
          </a:prstGeom>
          <a:solidFill>
            <a:srgbClr val="20262D"/>
          </a:solidFill>
          <a:ln>
            <a:solidFill>
              <a:srgbClr val="6BD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D
Differenz
bewerten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972800" cy="7315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Nur tatsächlich gelieferte Felder vergleichen. Fehlende Werte nicht interpretieren.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74320"/>
            <a:ext cx="100584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600" b="1">
                <a:solidFill>
                  <a:srgbClr val="F5F7F8"/>
                </a:solidFill>
                <a:latin typeface="Helvetica Neue"/>
              </a:rPr>
              <a:t>Praktischer Prüfablauf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310896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1 Visuell erfassen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19" y="100584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19" y="1371600"/>
            <a:ext cx="310896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2 ScooterCheck öffnen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00584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59" y="1371600"/>
            <a:ext cx="310896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3 BLE suchen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310896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4 Identifizieren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256032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19" y="2926080"/>
            <a:ext cx="310896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5 Verbindung prüfen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256032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2926080"/>
            <a:ext cx="310896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6 Parameter lesen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80560"/>
            <a:ext cx="310896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7 Abweichungen analysieren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19" y="411480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19" y="4480560"/>
            <a:ext cx="310896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8 Bewerten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411480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4480560"/>
            <a:ext cx="310896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1500" b="1">
                <a:solidFill>
                  <a:srgbClr val="F5F7F8"/>
                </a:solidFill>
                <a:latin typeface="Helvetica Neue"/>
              </a:rPr>
              <a:t>9 Bericht speichern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5F7F8"/>
                </a:solidFill>
                <a:latin typeface="Helvetica Neue"/>
              </a:rPr>
              <a:t>Live-Demonstration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8B949E"/>
                </a:solidFill>
                <a:latin typeface="Helvetica Neue"/>
              </a:rPr>
              <a:t>Am tatsächlichen Funktionsstand der App — kein Skript mit Fantasiewerten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103327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1.  BLE-Suche starten · Scooter in Reichweite bringen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103327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2.  Treffer / Radar · Identifikation besprechen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35808"/>
            <a:ext cx="103327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3.  Diagnose starten (wenn Support-Level es erlaubt)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66159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75887"/>
            <a:ext cx="103327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4.  Messwerte &amp; Evidence-Klassen kommentieren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06240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103327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5.  Bericht / Speicherung zeigen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56048"/>
            <a:ext cx="103327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500" b="0">
                <a:solidFill>
                  <a:srgbClr val="F5F7F8"/>
                </a:solidFill>
                <a:latin typeface="Helvetica Neue"/>
              </a:rPr>
              <a:t>6.  Optional: Radar-Karte oder Feinsuche kurz anreißen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74320"/>
            <a:ext cx="1005840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400" b="1">
                <a:solidFill>
                  <a:srgbClr val="F5F7F8"/>
                </a:solidFill>
                <a:latin typeface="Helvetica Neue"/>
              </a:rPr>
              <a:t>Was ScooterCheck erkennt — und was nicht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Hohes RSSI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≠ unmittelbare Nähe garantiert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0584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US-Region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≠ automatisch Tuning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Hoher Peak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≠ Ursache bewiesen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56032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Keine Auffälligkeit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9184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≠ Serienzustand sicher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Fingerprint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≠ immer eindeutige Identität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11480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38912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1">
                <a:solidFill>
                  <a:srgbClr val="6BDBC2"/>
                </a:solidFill>
                <a:latin typeface="Helvetica Neue"/>
              </a:rPr>
              <a:t>FW-Version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846320"/>
            <a:ext cx="4846320" cy="36576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nur mit Modellreferenz bewerten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5F7F8"/>
                </a:solidFill>
                <a:latin typeface="Helvetica Neue"/>
              </a:rPr>
              <a:t>Kernaussagen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98448"/>
            <a:ext cx="54864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6BDBC2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25880"/>
            <a:ext cx="95097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F5F7F8"/>
                </a:solidFill>
                <a:latin typeface="Helvetica Neue"/>
              </a:rPr>
              <a:t>Tuning findet auf unterschiedlichen technischen Ebenen statt.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54864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6BDBC2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95097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F5F7F8"/>
                </a:solidFill>
                <a:latin typeface="Helvetica Neue"/>
              </a:rPr>
              <a:t>Temporäre und persistente Manipulationen sind zu trennen.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8"/>
            <a:ext cx="54864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6BDBC2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154680"/>
            <a:ext cx="95097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F5F7F8"/>
                </a:solidFill>
                <a:latin typeface="Helvetica Neue"/>
              </a:rPr>
              <a:t>Nicht jede Manipulation ist über BLE nachweisbar.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41648"/>
            <a:ext cx="54864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6BDBC2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069080"/>
            <a:ext cx="95097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F5F7F8"/>
                </a:solidFill>
                <a:latin typeface="Helvetica Neue"/>
              </a:rPr>
              <a:t>Einzelne Diagnosewerte brauchen technische Einordnung.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5488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20262D"/>
          </a:solidFill>
          <a:ln w="12700">
            <a:solidFill>
              <a:srgbClr val="2C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56048"/>
            <a:ext cx="54864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000" b="1">
                <a:solidFill>
                  <a:srgbClr val="6BDBC2"/>
                </a:solidFill>
                <a:latin typeface="Helvetica Ne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983480"/>
            <a:ext cx="9509760" cy="4114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600" b="0">
                <a:solidFill>
                  <a:srgbClr val="F5F7F8"/>
                </a:solidFill>
                <a:latin typeface="Helvetica Neue"/>
              </a:rPr>
              <a:t>ScooterCheck strukturiert Erkennung, Auswertung und Dokumentation.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pp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09728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3600" b="1">
                <a:solidFill>
                  <a:srgbClr val="F5F7F8"/>
                </a:solidFill>
                <a:latin typeface="Helvetica Neue"/>
              </a:rPr>
              <a:t>ScooterCheck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18320" cy="109728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000" b="0">
                <a:solidFill>
                  <a:srgbClr val="6BDBC2"/>
                </a:solidFill>
                <a:latin typeface="Helvetica Neue"/>
              </a:rPr>
              <a:t>Manipulationen verstehen.
Technische Auffälligkeiten erkennen.
Ergebnisse nachvollziehbar dokumentieren.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ctr"/>
            <a:r>
              <a:rPr sz="2200" b="1">
                <a:solidFill>
                  <a:srgbClr val="F5F7F8"/>
                </a:solidFill>
                <a:latin typeface="Helvetica Neue"/>
              </a:rPr>
              <a:t>Fragen &amp; Diskussion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56032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2800" b="1">
                <a:solidFill>
                  <a:srgbClr val="F5F7F8"/>
                </a:solidFill>
                <a:latin typeface="Helvetica Neue"/>
              </a:rPr>
              <a:t>Quellen &amp; Abgrenzung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400" b="0">
                <a:solidFill>
                  <a:srgbClr val="F5F7F8"/>
                </a:solidFill>
                <a:latin typeface="Helvetica Neue"/>
              </a:rPr>
              <a:t>• Bluetooth SIG — Core Specification / GATT Overview
• Apple — CoreBluetooth Framework Documentation
• ScooterCheck — interne Doku: UNIVERSAL_SCOOTER_DIAGNOSIS, RADAR_MAP,
  BLE_PATH_HEATMAP, RADAR_BACKGROUND_APPROVAL, EvidenceEngine.swift
• Herstellerangaben (modellbezogen) und dokumentierte Open-Source-Analysen
Abgrenzung: Keine erfundenen Register, keine Auth-Umgehung, keine Rechtsbelehrung.
Aussagen zu Nachweisbarkeit sind immer modell-/firmware-/protokollabhängig.
App-UI in der Schulung per Live-Demo — keine fingierten Screenshots.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l"/>
            <a:r>
              <a:rPr sz="1000" b="0">
                <a:solidFill>
                  <a:srgbClr val="8B949E"/>
                </a:solidFill>
                <a:latin typeface="Helvetica Neue"/>
              </a:rPr>
              <a:t>ScooterCheck · Technische Fortbildung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:anchor="t"/>
          <a:lstStyle/>
          <a:p>
            <a:pPr algn="r"/>
            <a:r>
              <a:rPr sz="1000" b="0">
                <a:solidFill>
                  <a:srgbClr val="8B949E"/>
                </a:solidFill>
                <a:latin typeface="Helvetica Neue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